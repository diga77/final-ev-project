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2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92">
          <p15:clr>
            <a:srgbClr val="A4A3A4"/>
          </p15:clr>
        </p15:guide>
        <p15:guide id="2" pos="192">
          <p15:clr>
            <a:srgbClr val="A4A3A4"/>
          </p15:clr>
        </p15:guide>
        <p15:guide id="3" orient="horz" pos="10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>
        <p:guide orient="horz" pos="792"/>
        <p:guide pos="192"/>
        <p:guide orient="horz" pos="1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9af5f159e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g399af5f159e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A close up of a sign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 w="25400" cap="flat" cmpd="sng">
            <a:solidFill>
              <a:srgbClr val="21326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1"/>
          <p:cNvSpPr/>
          <p:nvPr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Google Shape;9;p1" descr="A blue and white background&#10;&#10;Description automatically generated with medium confidence"/>
          <p:cNvPicPr preferRelativeResize="0"/>
          <p:nvPr/>
        </p:nvPicPr>
        <p:blipFill rotWithShape="1">
          <a:blip r:embed="rId7">
            <a:alphaModFix amt="16000"/>
          </a:blip>
          <a:srcRect t="24724" r="1618" b="63695"/>
          <a:stretch/>
        </p:blipFill>
        <p:spPr>
          <a:xfrm>
            <a:off x="0" y="-1"/>
            <a:ext cx="9839325" cy="7239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/>
          <p:nvPr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6" descr="A person sitting at a desk with a compute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6"/>
          <p:cNvSpPr/>
          <p:nvPr/>
        </p:nvSpPr>
        <p:spPr>
          <a:xfrm>
            <a:off x="5873750" y="584200"/>
            <a:ext cx="4673600" cy="977900"/>
          </a:xfrm>
          <a:prstGeom prst="roundRect">
            <a:avLst>
              <a:gd name="adj" fmla="val 16667"/>
            </a:avLst>
          </a:prstGeom>
          <a:solidFill>
            <a:srgbClr val="EBEEF9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6"/>
          <p:cNvSpPr txBox="1"/>
          <p:nvPr/>
        </p:nvSpPr>
        <p:spPr>
          <a:xfrm>
            <a:off x="4151586" y="3429000"/>
            <a:ext cx="6870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 Range Predictor</a:t>
            </a:r>
            <a:endParaRPr sz="3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" name="Google Shape;22;p6"/>
          <p:cNvGrpSpPr/>
          <p:nvPr/>
        </p:nvGrpSpPr>
        <p:grpSpPr>
          <a:xfrm>
            <a:off x="6890523" y="742091"/>
            <a:ext cx="2640053" cy="664378"/>
            <a:chOff x="2375536" y="1112060"/>
            <a:chExt cx="3292636" cy="828603"/>
          </a:xfrm>
        </p:grpSpPr>
        <p:pic>
          <p:nvPicPr>
            <p:cNvPr id="23" name="Google Shape;23;p6" descr="A close up of a logo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092781" y="1270168"/>
              <a:ext cx="1575391" cy="512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24;p6" descr="A yellow and red shell logo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375536" y="1112060"/>
              <a:ext cx="985475" cy="8286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" name="Google Shape;25;p6"/>
          <p:cNvSpPr txBox="1"/>
          <p:nvPr/>
        </p:nvSpPr>
        <p:spPr>
          <a:xfrm>
            <a:off x="7252100" y="4075500"/>
            <a:ext cx="3879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AI-Powered Electric Vehicle Range Prediction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/>
        </p:nvSpPr>
        <p:spPr>
          <a:xfrm>
            <a:off x="191911" y="972537"/>
            <a:ext cx="265288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Learning Objectives</a:t>
            </a:r>
            <a:endParaRPr sz="2000" b="0" i="0" u="none" strike="noStrike" cap="none">
              <a:solidFill>
                <a:srgbClr val="2131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 : </a:t>
            </a:r>
            <a:endParaRPr/>
          </a:p>
        </p:txBody>
      </p:sp>
      <p:sp>
        <p:nvSpPr>
          <p:cNvPr id="32" name="Google Shape;32;p7"/>
          <p:cNvSpPr txBox="1"/>
          <p:nvPr/>
        </p:nvSpPr>
        <p:spPr>
          <a:xfrm>
            <a:off x="880529" y="6135329"/>
            <a:ext cx="184235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www.freepik.com/</a:t>
            </a:r>
            <a:endParaRPr sz="1200" b="0" i="0" u="none" strike="noStrike" cap="none" dirty="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7"/>
          <p:cNvCxnSpPr/>
          <p:nvPr/>
        </p:nvCxnSpPr>
        <p:spPr>
          <a:xfrm>
            <a:off x="0" y="6055360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4" name="Google Shape;34;p7" descr="A ladder leading to a large yellow circle&#10;&#10;Description automatically generated"/>
          <p:cNvPicPr preferRelativeResize="0"/>
          <p:nvPr/>
        </p:nvPicPr>
        <p:blipFill rotWithShape="1">
          <a:blip r:embed="rId4">
            <a:alphaModFix amt="85000"/>
          </a:blip>
          <a:srcRect l="13763" t="6135" r="13650"/>
          <a:stretch/>
        </p:blipFill>
        <p:spPr>
          <a:xfrm>
            <a:off x="7345680" y="1442720"/>
            <a:ext cx="4500880" cy="463296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7"/>
          <p:cNvSpPr txBox="1"/>
          <p:nvPr/>
        </p:nvSpPr>
        <p:spPr>
          <a:xfrm>
            <a:off x="8839200" y="3168609"/>
            <a:ext cx="1503681" cy="63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/>
          </a:p>
        </p:txBody>
      </p:sp>
      <p:sp>
        <p:nvSpPr>
          <p:cNvPr id="36" name="Google Shape;36;p7"/>
          <p:cNvSpPr txBox="1"/>
          <p:nvPr/>
        </p:nvSpPr>
        <p:spPr>
          <a:xfrm>
            <a:off x="576700" y="2006425"/>
            <a:ext cx="70752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Understand factors influencing EV driving range</a:t>
            </a:r>
            <a:br>
              <a:rPr lang="en-US" sz="1800"/>
            </a:b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Learn ML workflow: EDA → Model Training → Evaluation</a:t>
            </a:r>
            <a:br>
              <a:rPr lang="en-US" sz="1800"/>
            </a:b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Build an accurate range prediction model</a:t>
            </a:r>
            <a:br>
              <a:rPr lang="en-US" sz="1800"/>
            </a:b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Integrate AI for insights and user interaction chatbot</a:t>
            </a:r>
            <a:br>
              <a:rPr lang="en-US" sz="1800"/>
            </a:b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Develop a Streamlit-based EV prediction web app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/>
        </p:nvSpPr>
        <p:spPr>
          <a:xfrm>
            <a:off x="135834" y="1067664"/>
            <a:ext cx="610262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000" b="1" i="0" u="none" strike="noStrike" cap="non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ools and Technology used </a:t>
            </a:r>
            <a:endParaRPr/>
          </a:p>
        </p:txBody>
      </p:sp>
      <p:sp>
        <p:nvSpPr>
          <p:cNvPr id="42" name="Google Shape;42;p8"/>
          <p:cNvSpPr txBox="1"/>
          <p:nvPr/>
        </p:nvSpPr>
        <p:spPr>
          <a:xfrm>
            <a:off x="388675" y="1792075"/>
            <a:ext cx="8813100" cy="45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>
                <a:solidFill>
                  <a:schemeClr val="dk1"/>
                </a:solidFill>
              </a:rPr>
              <a:t>Python</a:t>
            </a:r>
            <a:r>
              <a:rPr lang="en-US" sz="1800">
                <a:solidFill>
                  <a:schemeClr val="dk1"/>
                </a:solidFill>
              </a:rPr>
              <a:t> – Core language for data analysis and ML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>
                <a:solidFill>
                  <a:schemeClr val="dk1"/>
                </a:solidFill>
              </a:rPr>
              <a:t>Pandas, NumPy</a:t>
            </a:r>
            <a:r>
              <a:rPr lang="en-US" sz="1800">
                <a:solidFill>
                  <a:schemeClr val="dk1"/>
                </a:solidFill>
              </a:rPr>
              <a:t> – Data preprocessing and manipulation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>
                <a:solidFill>
                  <a:schemeClr val="dk1"/>
                </a:solidFill>
              </a:rPr>
              <a:t>Matplotlib, Seaborn</a:t>
            </a:r>
            <a:r>
              <a:rPr lang="en-US" sz="1800">
                <a:solidFill>
                  <a:schemeClr val="dk1"/>
                </a:solidFill>
              </a:rPr>
              <a:t> – Data visualization</a:t>
            </a:r>
            <a:endParaRPr sz="18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>
                <a:solidFill>
                  <a:schemeClr val="dk1"/>
                </a:solidFill>
              </a:rPr>
              <a:t>Scikit-learn</a:t>
            </a:r>
            <a:r>
              <a:rPr lang="en-US" sz="1800">
                <a:solidFill>
                  <a:schemeClr val="dk1"/>
                </a:solidFill>
              </a:rPr>
              <a:t> – Machine learning model development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>
                <a:solidFill>
                  <a:schemeClr val="dk1"/>
                </a:solidFill>
              </a:rPr>
              <a:t>Joblib</a:t>
            </a:r>
            <a:r>
              <a:rPr lang="en-US" sz="1800">
                <a:solidFill>
                  <a:schemeClr val="dk1"/>
                </a:solidFill>
              </a:rPr>
              <a:t> – Model saving and loading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>
                <a:solidFill>
                  <a:schemeClr val="dk1"/>
                </a:solidFill>
              </a:rPr>
              <a:t>Jupyter Notebook</a:t>
            </a:r>
            <a:r>
              <a:rPr lang="en-US" sz="1800">
                <a:solidFill>
                  <a:schemeClr val="dk1"/>
                </a:solidFill>
              </a:rPr>
              <a:t> – EDA and experimentation</a:t>
            </a:r>
            <a:endParaRPr sz="18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>
                <a:solidFill>
                  <a:schemeClr val="dk1"/>
                </a:solidFill>
              </a:rPr>
              <a:t>HuggingFace API + DeepSeek-V3.2</a:t>
            </a:r>
            <a:r>
              <a:rPr lang="en-US" sz="1800">
                <a:solidFill>
                  <a:schemeClr val="dk1"/>
                </a:solidFill>
              </a:rPr>
              <a:t> – AI assistant integration</a:t>
            </a:r>
            <a:endParaRPr sz="18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>
                <a:solidFill>
                  <a:schemeClr val="dk1"/>
                </a:solidFill>
              </a:rPr>
              <a:t>Streamlit</a:t>
            </a:r>
            <a:r>
              <a:rPr lang="en-US" sz="1800">
                <a:solidFill>
                  <a:schemeClr val="dk1"/>
                </a:solidFill>
              </a:rPr>
              <a:t> – Web application interface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" name="Google Shape;43;p8"/>
          <p:cNvPicPr preferRelativeResize="0"/>
          <p:nvPr/>
        </p:nvPicPr>
        <p:blipFill rotWithShape="1">
          <a:blip r:embed="rId3">
            <a:alphaModFix/>
          </a:blip>
          <a:srcRect r="75326"/>
          <a:stretch/>
        </p:blipFill>
        <p:spPr>
          <a:xfrm>
            <a:off x="7989008" y="822238"/>
            <a:ext cx="1230076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32875" y="869400"/>
            <a:ext cx="1315375" cy="131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24725" y="2349487"/>
            <a:ext cx="1455325" cy="119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021400" y="2341925"/>
            <a:ext cx="2060376" cy="49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8"/>
          <p:cNvPicPr preferRelativeResize="0"/>
          <p:nvPr/>
        </p:nvPicPr>
        <p:blipFill rotWithShape="1">
          <a:blip r:embed="rId7">
            <a:alphaModFix/>
          </a:blip>
          <a:srcRect r="75112"/>
          <a:stretch/>
        </p:blipFill>
        <p:spPr>
          <a:xfrm>
            <a:off x="10718897" y="2993563"/>
            <a:ext cx="1315375" cy="151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770775" y="4295500"/>
            <a:ext cx="2162100" cy="78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201763" y="3106938"/>
            <a:ext cx="995425" cy="91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695188" y="5498200"/>
            <a:ext cx="1104900" cy="110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8"/>
          <p:cNvPicPr preferRelativeResize="0"/>
          <p:nvPr/>
        </p:nvPicPr>
        <p:blipFill rotWithShape="1">
          <a:blip r:embed="rId11">
            <a:alphaModFix/>
          </a:blip>
          <a:srcRect r="69558"/>
          <a:stretch/>
        </p:blipFill>
        <p:spPr>
          <a:xfrm>
            <a:off x="10521625" y="4845400"/>
            <a:ext cx="1315374" cy="914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958325" y="5579875"/>
            <a:ext cx="2060376" cy="1158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/>
        </p:nvSpPr>
        <p:spPr>
          <a:xfrm>
            <a:off x="268356" y="1014656"/>
            <a:ext cx="610262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r>
              <a:rPr lang="en-US" sz="1800" b="1" i="0" u="none" strike="noStrike" cap="non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 strike="noStrike" cap="none">
              <a:solidFill>
                <a:srgbClr val="2131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9"/>
          <p:cNvSpPr txBox="1"/>
          <p:nvPr/>
        </p:nvSpPr>
        <p:spPr>
          <a:xfrm>
            <a:off x="524500" y="1931750"/>
            <a:ext cx="8399700" cy="37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 b="1">
                <a:solidFill>
                  <a:schemeClr val="dk1"/>
                </a:solidFill>
              </a:rPr>
              <a:t>Problem Definition</a:t>
            </a:r>
            <a:r>
              <a:rPr lang="en-US" sz="1800">
                <a:solidFill>
                  <a:schemeClr val="dk1"/>
                </a:solidFill>
              </a:rPr>
              <a:t> – Predict EV driving range using specifications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 b="1">
                <a:solidFill>
                  <a:schemeClr val="dk1"/>
                </a:solidFill>
              </a:rPr>
              <a:t>Data Preprocessing</a:t>
            </a:r>
            <a:r>
              <a:rPr lang="en-US" sz="1800">
                <a:solidFill>
                  <a:schemeClr val="dk1"/>
                </a:solidFill>
              </a:rPr>
              <a:t> – Cleaning, feature selection, and encoding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 b="1">
                <a:solidFill>
                  <a:schemeClr val="dk1"/>
                </a:solidFill>
              </a:rPr>
              <a:t>Exploratory Data Analysis</a:t>
            </a:r>
            <a:r>
              <a:rPr lang="en-US" sz="1800">
                <a:solidFill>
                  <a:schemeClr val="dk1"/>
                </a:solidFill>
              </a:rPr>
              <a:t> – Understanding patterns and correlations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 b="1">
                <a:solidFill>
                  <a:schemeClr val="dk1"/>
                </a:solidFill>
              </a:rPr>
              <a:t>Model Building</a:t>
            </a:r>
            <a:r>
              <a:rPr lang="en-US" sz="1800">
                <a:solidFill>
                  <a:schemeClr val="dk1"/>
                </a:solidFill>
              </a:rPr>
              <a:t> – Training Random Forest Regressor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 b="1">
                <a:solidFill>
                  <a:schemeClr val="dk1"/>
                </a:solidFill>
              </a:rPr>
              <a:t>Model Evaluation</a:t>
            </a:r>
            <a:r>
              <a:rPr lang="en-US" sz="1800">
                <a:solidFill>
                  <a:schemeClr val="dk1"/>
                </a:solidFill>
              </a:rPr>
              <a:t> – MAE, RMSE, and R² performance assessment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 b="1">
                <a:solidFill>
                  <a:schemeClr val="dk1"/>
                </a:solidFill>
              </a:rPr>
              <a:t>Deployment</a:t>
            </a:r>
            <a:r>
              <a:rPr lang="en-US" sz="1800">
                <a:solidFill>
                  <a:schemeClr val="dk1"/>
                </a:solidFill>
              </a:rPr>
              <a:t> – Streamlit-based interactive prediction app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 b="1">
                <a:solidFill>
                  <a:schemeClr val="dk1"/>
                </a:solidFill>
              </a:rPr>
              <a:t>AI Integration</a:t>
            </a:r>
            <a:r>
              <a:rPr lang="en-US" sz="1800">
                <a:solidFill>
                  <a:schemeClr val="dk1"/>
                </a:solidFill>
              </a:rPr>
              <a:t> – Adding DeepSeek-powered insights and chat assistant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59" name="Google Shape;59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7025" y="1257300"/>
            <a:ext cx="3261100" cy="4891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Problem Statement:  </a:t>
            </a:r>
            <a:endParaRPr sz="2000" b="1" i="0" u="none" strike="noStrike" cap="none">
              <a:solidFill>
                <a:srgbClr val="2131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3725" y="2397225"/>
            <a:ext cx="3426700" cy="342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0"/>
          <p:cNvSpPr txBox="1"/>
          <p:nvPr/>
        </p:nvSpPr>
        <p:spPr>
          <a:xfrm>
            <a:off x="487825" y="1714500"/>
            <a:ext cx="7815900" cy="4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Electric vehicle buyers often face </a:t>
            </a:r>
            <a:r>
              <a:rPr lang="en-US" sz="1800" b="1">
                <a:solidFill>
                  <a:schemeClr val="dk1"/>
                </a:solidFill>
              </a:rPr>
              <a:t>range anxiety</a:t>
            </a:r>
            <a:r>
              <a:rPr lang="en-US" sz="1800">
                <a:solidFill>
                  <a:schemeClr val="dk1"/>
                </a:solidFill>
              </a:rPr>
              <a:t> due to uncertainty in real-world driving range.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EV range depends on multiple changing factors like </a:t>
            </a:r>
            <a:r>
              <a:rPr lang="en-US" sz="1800" b="1">
                <a:solidFill>
                  <a:schemeClr val="dk1"/>
                </a:solidFill>
              </a:rPr>
              <a:t>temperature, terrain, battery health, and driving style</a:t>
            </a:r>
            <a:r>
              <a:rPr lang="en-US" sz="1800">
                <a:solidFill>
                  <a:schemeClr val="dk1"/>
                </a:solidFill>
              </a:rPr>
              <a:t>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Manufacturers provide a rated range, but </a:t>
            </a:r>
            <a:r>
              <a:rPr lang="en-US" sz="1800" b="1">
                <a:solidFill>
                  <a:schemeClr val="dk1"/>
                </a:solidFill>
              </a:rPr>
              <a:t>actual performance varies significantly</a:t>
            </a:r>
            <a:r>
              <a:rPr lang="en-US" sz="1800">
                <a:solidFill>
                  <a:schemeClr val="dk1"/>
                </a:solidFill>
              </a:rPr>
              <a:t>, making decision-making difficult.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There is a need for a </a:t>
            </a:r>
            <a:r>
              <a:rPr lang="en-US" sz="1800" b="1">
                <a:solidFill>
                  <a:schemeClr val="dk1"/>
                </a:solidFill>
              </a:rPr>
              <a:t>data-driven, accurate, and user-friendly system</a:t>
            </a:r>
            <a:r>
              <a:rPr lang="en-US" sz="1800">
                <a:solidFill>
                  <a:schemeClr val="dk1"/>
                </a:solidFill>
              </a:rPr>
              <a:t> that can predict EV driving range and offer intelligent insights.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/>
        </p:nvSpPr>
        <p:spPr>
          <a:xfrm>
            <a:off x="255104" y="1054412"/>
            <a:ext cx="6102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Solution:  </a:t>
            </a:r>
            <a:endParaRPr sz="2000" b="1" i="0" u="none" strike="noStrike" cap="none">
              <a:solidFill>
                <a:srgbClr val="2131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11"/>
          <p:cNvPicPr preferRelativeResize="0"/>
          <p:nvPr/>
        </p:nvPicPr>
        <p:blipFill rotWithShape="1">
          <a:blip r:embed="rId3">
            <a:alphaModFix/>
          </a:blip>
          <a:srcRect l="23763" t="20489" r="22301" b="19087"/>
          <a:stretch/>
        </p:blipFill>
        <p:spPr>
          <a:xfrm>
            <a:off x="8163950" y="1900725"/>
            <a:ext cx="3799724" cy="42568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1"/>
          <p:cNvSpPr txBox="1"/>
          <p:nvPr/>
        </p:nvSpPr>
        <p:spPr>
          <a:xfrm>
            <a:off x="820125" y="1900725"/>
            <a:ext cx="6909300" cy="37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Performed complete data cleaning, preprocessing, and feature engineering</a:t>
            </a:r>
            <a:endParaRPr sz="18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Developed a model for accurate EV range prediction</a:t>
            </a:r>
            <a:br>
              <a:rPr lang="en-US" sz="1800"/>
            </a:b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Integrated AI (DeepSeek-V3.2) to provide insights and recommendations</a:t>
            </a:r>
            <a:br>
              <a:rPr lang="en-US" sz="1800"/>
            </a:b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Added preset examples and clean UI for better user experience</a:t>
            </a:r>
            <a:endParaRPr sz="18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Built a user-friendly Streamlit web app for real-time predictions</a:t>
            </a:r>
            <a:endParaRPr sz="1800"/>
          </a:p>
        </p:txBody>
      </p:sp>
      <p:sp>
        <p:nvSpPr>
          <p:cNvPr id="74" name="Google Shape;74;p11"/>
          <p:cNvSpPr txBox="1"/>
          <p:nvPr/>
        </p:nvSpPr>
        <p:spPr>
          <a:xfrm>
            <a:off x="1377140" y="5925688"/>
            <a:ext cx="42228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1500" u="sng" dirty="0">
                <a:solidFill>
                  <a:schemeClr val="hlink"/>
                </a:solidFill>
              </a:rPr>
              <a:t>https://github.com/diga77/Final-EV-Project</a:t>
            </a:r>
            <a:endParaRPr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Screenshot of Output:  </a:t>
            </a:r>
            <a:endParaRPr sz="2000" b="1" i="0" u="none" strike="noStrike" cap="none">
              <a:solidFill>
                <a:srgbClr val="2131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454525"/>
            <a:ext cx="9422774" cy="5300324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2"/>
          <p:cNvSpPr txBox="1"/>
          <p:nvPr/>
        </p:nvSpPr>
        <p:spPr>
          <a:xfrm>
            <a:off x="10336200" y="2162175"/>
            <a:ext cx="1580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/>
              <a:t>Try this:</a:t>
            </a:r>
            <a:endParaRPr sz="2000" b="1"/>
          </a:p>
        </p:txBody>
      </p:sp>
      <p:pic>
        <p:nvPicPr>
          <p:cNvPr id="82" name="Google Shape;82;p12"/>
          <p:cNvPicPr preferRelativeResize="0"/>
          <p:nvPr/>
        </p:nvPicPr>
        <p:blipFill rotWithShape="1">
          <a:blip r:embed="rId4">
            <a:alphaModFix/>
          </a:blip>
          <a:srcRect l="26884" t="7402" r="27000" b="28342"/>
          <a:stretch/>
        </p:blipFill>
        <p:spPr>
          <a:xfrm>
            <a:off x="10227575" y="3170438"/>
            <a:ext cx="1580098" cy="15581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/>
          <p:nvPr/>
        </p:nvSpPr>
        <p:spPr>
          <a:xfrm>
            <a:off x="149087" y="988151"/>
            <a:ext cx="6102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Conclusion:</a:t>
            </a:r>
            <a:r>
              <a:rPr lang="en-US" sz="2300" b="1" i="0" u="none" strike="noStrike" cap="none">
                <a:solidFill>
                  <a:srgbClr val="213163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2300" b="0" i="0" u="none" strike="noStrike" cap="none">
              <a:solidFill>
                <a:srgbClr val="2131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634400" y="2031450"/>
            <a:ext cx="9291300" cy="32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The project successfully predicts EV driving range with high accuracy</a:t>
            </a:r>
            <a:br>
              <a:rPr lang="en-US" sz="2000"/>
            </a:b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Combines ML and AI to enhance user understanding and decision-making</a:t>
            </a:r>
            <a:br>
              <a:rPr lang="en-US" sz="2000"/>
            </a:b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Provides an interactive, easy-to-use Streamlit application</a:t>
            </a:r>
            <a:br>
              <a:rPr lang="en-US" sz="2000"/>
            </a:b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Demonstrates the potential of AI-driven tools for better EV analysis</a:t>
            </a:r>
            <a:br>
              <a:rPr lang="en-US" sz="2000"/>
            </a:b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Can be extended with more features like using real-time data for better and real time prediction of range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7938" y="917450"/>
            <a:ext cx="7096125" cy="502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ession 01 Design Thinking &amp; Critical Think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397</Words>
  <Application>Microsoft Office PowerPoint</Application>
  <PresentationFormat>Widescreen</PresentationFormat>
  <Paragraphs>57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Session 01 Design Thinking &amp; Critical Thinking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Digambar Mahajan</cp:lastModifiedBy>
  <cp:revision>2</cp:revision>
  <dcterms:modified xsi:type="dcterms:W3CDTF">2025-11-17T16:56:17Z</dcterms:modified>
</cp:coreProperties>
</file>